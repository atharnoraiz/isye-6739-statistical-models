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1" r:id="rId9"/>
    <p:sldId id="262" r:id="rId10"/>
    <p:sldId id="263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95AF6-4D42-40F4-9A8A-FA6EBFB3D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7DAFC-2636-42A7-AF1B-7209BCDF9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E1109-8F12-4716-9C34-7D90FD86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8EE6-89D3-4A60-94EF-1079D3846681}" type="datetimeFigureOut">
              <a:rPr lang="en-US" smtClean="0"/>
              <a:t>1/19/2018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39493-D3D9-41EB-B8E0-9DE27A00A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A062A-2297-4FDE-951C-56A1C995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55AA-BEDF-4ABE-8E91-1D162331D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30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95C5A-C75A-4DC1-B5CF-1BACC5984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83026-5C7A-49CA-9959-6FD75E914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AF7E1-0A22-4AA5-9F86-2740A91C7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8EE6-89D3-4A60-94EF-1079D3846681}" type="datetimeFigureOut">
              <a:rPr lang="en-US" smtClean="0"/>
              <a:t>1/19/2018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639BF-6BAE-45FC-8A32-974B88B92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F2CE0-7EC9-4D86-A97D-18A772AE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55AA-BEDF-4ABE-8E91-1D162331DC3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84BF7E-17EC-4D6E-A373-8C4872E3429F}"/>
              </a:ext>
            </a:extLst>
          </p:cNvPr>
          <p:cNvCxnSpPr/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9322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6E2CA-EBBD-47B5-A779-778761799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02423-2A0A-4A0D-B846-657770A87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613B9-160D-4CAF-9E9B-D222FC95A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8EE6-89D3-4A60-94EF-1079D3846681}" type="datetimeFigureOut">
              <a:rPr lang="en-US" smtClean="0"/>
              <a:t>1/19/2018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ED4ED-A156-4886-AC16-0FA2CD80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61D50-7FEB-4260-B8A8-8C92C7521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55AA-BEDF-4ABE-8E91-1D162331D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13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61AC3-301A-4D42-B256-9214FB722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22E71-0A78-4ADB-8959-37A73762AC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F1015-CE1A-40DE-B27E-478497392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D05DE-CB04-46BF-8A0D-A657472D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8EE6-89D3-4A60-94EF-1079D3846681}" type="datetimeFigureOut">
              <a:rPr lang="en-US" smtClean="0"/>
              <a:t>1/19/2018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4A24D-93A4-4F31-8B34-5F70729D5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43778-1EF1-4234-94F4-95F9B586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55AA-BEDF-4ABE-8E91-1D162331D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21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59AF9-658C-4D40-85CE-379230E6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B9E25-D082-4DDF-8ED1-7A3913696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6653E-2346-468E-9969-C0CA519EC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2A4B05-F927-4391-ACA4-D6CE313EE0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3B9B8-E7BF-4879-A2C4-4ADB42663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217EF7-C96E-4727-96A9-4A080CFE6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8EE6-89D3-4A60-94EF-1079D3846681}" type="datetimeFigureOut">
              <a:rPr lang="en-US" smtClean="0"/>
              <a:t>1/19/2018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B76763-ECFB-48D7-B7FF-6F7472CFB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DDDF0D-B0C8-431D-81E4-C0E987A4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55AA-BEDF-4ABE-8E91-1D162331D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88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89C52-0379-4EE4-8A30-30E783C7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492DE-3294-4161-8A4A-1F5EC27F1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8EE6-89D3-4A60-94EF-1079D3846681}" type="datetimeFigureOut">
              <a:rPr lang="en-US" smtClean="0"/>
              <a:t>1/19/2018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E7AE14-814C-4CFF-8B3E-755312800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876B8D-AAC4-48BC-9316-644872C9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55AA-BEDF-4ABE-8E91-1D162331D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70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F6ECF3-ADAB-4FC4-A127-866A53253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8EE6-89D3-4A60-94EF-1079D3846681}" type="datetimeFigureOut">
              <a:rPr lang="en-US" smtClean="0"/>
              <a:t>1/19/2018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E6CBF4-D11F-43D2-BB81-A382EC409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06669-9748-4EF0-8BA1-7CE788B8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55AA-BEDF-4ABE-8E91-1D162331D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974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374B3-DF07-4C59-B02D-B6C10D3E3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04A13-222F-4B78-AFA3-750B58FA8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E8173D-7A48-4E91-996B-56B2444C0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5AC9F-616C-4899-BEA0-3C02FFE7F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8EE6-89D3-4A60-94EF-1079D3846681}" type="datetimeFigureOut">
              <a:rPr lang="en-US" smtClean="0"/>
              <a:t>1/19/2018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0991E-A6DA-4B86-977D-7416CD0D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E9622-B6D0-4C8F-8EDF-4E0CB16D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55AA-BEDF-4ABE-8E91-1D162331D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176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947EA-E939-4D6A-BD4E-ACA4188C0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EF2BA2-1930-459D-B378-5948E5E3F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7E7D3-D4F3-4E5C-9EB7-AFC879D71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7C6B8-BF56-44CA-9CCA-B7BA136E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8EE6-89D3-4A60-94EF-1079D3846681}" type="datetimeFigureOut">
              <a:rPr lang="en-US" smtClean="0"/>
              <a:t>1/19/2018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68DD6-10B5-47AC-95C8-CB49DFD5F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E35AC-DD25-4904-8E82-181E7F9F3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55AA-BEDF-4ABE-8E91-1D162331D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75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5B613-784F-4DB8-8C2C-ACEE90ADD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63A92F-792A-4A5E-81B1-CF37B44F1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D2989-6F2C-43E7-AB32-4376A3E78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8EE6-89D3-4A60-94EF-1079D3846681}" type="datetimeFigureOut">
              <a:rPr lang="en-US" smtClean="0"/>
              <a:t>1/19/2018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10C67-E601-4ABF-A81C-710BF152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C459B-6507-4154-B01A-070E0355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55AA-BEDF-4ABE-8E91-1D162331D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6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7EE5D9-2337-402B-947F-EAE46BC3C5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40F4C-C576-4F79-A062-09A4BC116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78192-B0A2-4FE4-AEC4-B66CCFE63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8EE6-89D3-4A60-94EF-1079D3846681}" type="datetimeFigureOut">
              <a:rPr lang="en-US" smtClean="0"/>
              <a:t>1/19/2018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4B57D-ABE5-404C-BAD7-6C616E9E8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31EBA-0932-4DAD-AFCC-E9D66A763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55AA-BEDF-4ABE-8E91-1D162331D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88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ECA1E8-5BE3-4CC3-BD29-7BF4DD64C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55BD6-5D28-4554-8BA7-173557890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2445B-1767-4AC3-8B51-6C4192150C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48EE6-89D3-4A60-94EF-1079D3846681}" type="datetimeFigureOut">
              <a:rPr lang="en-US" smtClean="0"/>
              <a:t>1/19/2018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9CAC8-5F2F-4302-B267-6F33BB6EE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ECE02-073E-4D43-BA22-54BE611E2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955AA-BEDF-4ABE-8E91-1D162331D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76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jupyter.or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B6F46-A3D0-47DC-9EA5-AC88325F0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E233D3-7810-4CB7-AC18-37B8535408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Mostafa Reisi Gahrooei</a:t>
            </a:r>
          </a:p>
        </p:txBody>
      </p:sp>
    </p:spTree>
    <p:extLst>
      <p:ext uri="{BB962C8B-B14F-4D97-AF65-F5344CB8AC3E}">
        <p14:creationId xmlns:p14="http://schemas.microsoft.com/office/powerpoint/2010/main" val="125110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18F26-8EAB-42F0-BD40-3D11F76BF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429B1-A8F0-415A-9EFC-3DA1F704A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can be downloaded from the Comprehensive R Archive Network (CRAN) mirror site for free: </a:t>
            </a:r>
          </a:p>
          <a:p>
            <a:pPr marL="0" indent="0">
              <a:buNone/>
            </a:pPr>
            <a:r>
              <a:rPr lang="en-US" dirty="0"/>
              <a:t>			http://cran.r-project.org/ </a:t>
            </a:r>
          </a:p>
          <a:p>
            <a:pPr marL="0" indent="0">
              <a:buNone/>
            </a:pPr>
            <a:r>
              <a:rPr lang="en-US" dirty="0"/>
              <a:t>In ‘Download and Install R’ section, click to choose between Linux, Mac OS and Windows, then follow the (rather different) instructions.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RStudio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RStudio</a:t>
            </a:r>
            <a:r>
              <a:rPr lang="en-US" dirty="0"/>
              <a:t> is a free and open source integrated development environment for R. It can be downloaded from: </a:t>
            </a:r>
          </a:p>
          <a:p>
            <a:pPr marL="0" indent="0">
              <a:buNone/>
            </a:pPr>
            <a:r>
              <a:rPr lang="en-US" dirty="0"/>
              <a:t>			http://www.rstudio.com/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53B77A-CFB5-4D73-BC16-095CE24E4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378" y="1732892"/>
            <a:ext cx="781050" cy="542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46F01C-5236-49E4-9579-0A9839D9D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171" y="4116498"/>
            <a:ext cx="763247" cy="73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34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18E4F-6888-4187-891C-BD34F2A27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R Console Window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559F8-7C50-41D3-86C5-BCC699A29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command line prompt (&gt;) is an invitation to start typing in commands or expressions. </a:t>
            </a:r>
          </a:p>
          <a:p>
            <a:r>
              <a:rPr lang="en-US" dirty="0"/>
              <a:t>R evaluates and prints out the result of any expression that is typed in at the command line in the console window. </a:t>
            </a:r>
          </a:p>
          <a:p>
            <a:r>
              <a:rPr lang="en-US" dirty="0"/>
              <a:t>Multiple commands may appear on the one line, with the semicolon (;) as the separator.</a:t>
            </a:r>
          </a:p>
        </p:txBody>
      </p:sp>
    </p:spTree>
    <p:extLst>
      <p:ext uri="{BB962C8B-B14F-4D97-AF65-F5344CB8AC3E}">
        <p14:creationId xmlns:p14="http://schemas.microsoft.com/office/powerpoint/2010/main" val="2770323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073F-9220-4699-8AB4-69274CA3C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R Console Window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E7325-7EB7-4B45-ABE4-2EB24CDCA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working, you will sometimes see + at the left-hand side of the screen instead of &gt;. This means that the last command you typed is </a:t>
            </a:r>
            <a:r>
              <a:rPr lang="en-US" u="sng" dirty="0"/>
              <a:t>incomplete</a:t>
            </a:r>
            <a:r>
              <a:rPr lang="en-US" dirty="0"/>
              <a:t>. </a:t>
            </a:r>
          </a:p>
          <a:p>
            <a:r>
              <a:rPr lang="en-US" dirty="0"/>
              <a:t>If you can see what is missing (e.g. a final right-hand bracket), just type the missing character and press enter. Then the command will execute. </a:t>
            </a:r>
          </a:p>
          <a:p>
            <a:r>
              <a:rPr lang="en-US" dirty="0"/>
              <a:t>If you have made a mistake, then press the Esc key and the command line prompt &gt; will reappear. </a:t>
            </a:r>
          </a:p>
          <a:p>
            <a:r>
              <a:rPr lang="en-US" dirty="0"/>
              <a:t>Use the Up arrow key to retrieve your last command.</a:t>
            </a:r>
          </a:p>
        </p:txBody>
      </p:sp>
    </p:spTree>
    <p:extLst>
      <p:ext uri="{BB962C8B-B14F-4D97-AF65-F5344CB8AC3E}">
        <p14:creationId xmlns:p14="http://schemas.microsoft.com/office/powerpoint/2010/main" val="3883714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A6B31-BA06-4524-89E5-3FBC369DC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Getting Help in R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81591-A15D-4368-A810-611EB6A76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you know the name of the function you want help with, type a question mark ? followed by the name of the function, or use help().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&gt;?</a:t>
            </a:r>
            <a:r>
              <a:rPr lang="en-US" dirty="0" err="1">
                <a:solidFill>
                  <a:schemeClr val="accent1"/>
                </a:solidFill>
              </a:rPr>
              <a:t>read.table</a:t>
            </a:r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&gt;help(</a:t>
            </a:r>
            <a:r>
              <a:rPr lang="en-US" dirty="0" err="1">
                <a:solidFill>
                  <a:schemeClr val="accent1"/>
                </a:solidFill>
              </a:rPr>
              <a:t>read.table</a:t>
            </a:r>
            <a:r>
              <a:rPr lang="en-US" dirty="0">
                <a:solidFill>
                  <a:schemeClr val="accent1"/>
                </a:solidFill>
              </a:rPr>
              <a:t>) </a:t>
            </a:r>
          </a:p>
          <a:p>
            <a:r>
              <a:rPr lang="en-US" dirty="0"/>
              <a:t>If you only know the subject on which you want help, use </a:t>
            </a:r>
            <a:r>
              <a:rPr lang="en-US" dirty="0" err="1"/>
              <a:t>help.search</a:t>
            </a:r>
            <a:r>
              <a:rPr lang="en-US" dirty="0"/>
              <a:t>(“"):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&gt;</a:t>
            </a:r>
            <a:r>
              <a:rPr lang="en-US" dirty="0" err="1">
                <a:solidFill>
                  <a:schemeClr val="accent1"/>
                </a:solidFill>
              </a:rPr>
              <a:t>help.search</a:t>
            </a:r>
            <a:r>
              <a:rPr lang="en-US" dirty="0">
                <a:solidFill>
                  <a:schemeClr val="accent1"/>
                </a:solidFill>
              </a:rPr>
              <a:t>("data input") </a:t>
            </a:r>
          </a:p>
          <a:p>
            <a:r>
              <a:rPr lang="en-US" dirty="0"/>
              <a:t>If you are connected to the internet, you can type CRAN in Google </a:t>
            </a:r>
          </a:p>
          <a:p>
            <a:pPr marL="0" indent="0">
              <a:buNone/>
            </a:pPr>
            <a:r>
              <a:rPr lang="en-US" dirty="0"/>
              <a:t>and search for the help you need at CRAN.</a:t>
            </a:r>
          </a:p>
        </p:txBody>
      </p:sp>
    </p:spTree>
    <p:extLst>
      <p:ext uri="{BB962C8B-B14F-4D97-AF65-F5344CB8AC3E}">
        <p14:creationId xmlns:p14="http://schemas.microsoft.com/office/powerpoint/2010/main" val="789169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DE96-C9CF-40A8-BB3A-1ED83314C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07C2E-3272-4C56-93F4-56016F570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our lecture we are going to use </a:t>
            </a:r>
            <a:r>
              <a:rPr lang="en-US" dirty="0" err="1"/>
              <a:t>Jupyter</a:t>
            </a:r>
            <a:r>
              <a:rPr lang="en-US" dirty="0"/>
              <a:t> as our platform: </a:t>
            </a:r>
          </a:p>
          <a:p>
            <a:pPr marL="0" indent="0" algn="ctr">
              <a:buNone/>
            </a:pPr>
            <a:r>
              <a:rPr lang="en-US" dirty="0">
                <a:hlinkClick r:id="rId2"/>
              </a:rPr>
              <a:t>http://jupyter.org/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either </a:t>
            </a:r>
            <a:r>
              <a:rPr lang="en-US" dirty="0" err="1"/>
              <a:t>intall</a:t>
            </a:r>
            <a:r>
              <a:rPr lang="en-US" dirty="0"/>
              <a:t> </a:t>
            </a:r>
            <a:r>
              <a:rPr lang="en-US" dirty="0" err="1"/>
              <a:t>Jupyter</a:t>
            </a:r>
            <a:r>
              <a:rPr lang="en-US" dirty="0"/>
              <a:t> or use it in your browser.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D1183C-653B-4671-9FC9-F32EA38556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03"/>
          <a:stretch/>
        </p:blipFill>
        <p:spPr>
          <a:xfrm>
            <a:off x="3620087" y="3875790"/>
            <a:ext cx="5257800" cy="279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458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5026B-E804-4CE4-8BEE-A81474401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506D8-5125-4B12-9904-B12584D5C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80582" cy="4351338"/>
          </a:xfrm>
        </p:spPr>
        <p:txBody>
          <a:bodyPr/>
          <a:lstStyle/>
          <a:p>
            <a:r>
              <a:rPr lang="en-US" dirty="0"/>
              <a:t>Press on upload to upload a new notebook</a:t>
            </a:r>
          </a:p>
          <a:p>
            <a:r>
              <a:rPr lang="en-US" dirty="0"/>
              <a:t>Or press new to choose your programming language, e.g., R</a:t>
            </a:r>
          </a:p>
          <a:p>
            <a:r>
              <a:rPr lang="en-US" dirty="0"/>
              <a:t>The file format is .</a:t>
            </a:r>
            <a:r>
              <a:rPr lang="en-US" dirty="0" err="1"/>
              <a:t>ipynb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1C16AD-ED58-4F96-B923-A15C22DCE6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03"/>
          <a:stretch/>
        </p:blipFill>
        <p:spPr>
          <a:xfrm>
            <a:off x="4447905" y="2069270"/>
            <a:ext cx="7257588" cy="386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44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26380-8BDD-4266-B14E-102572477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Variable Names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2C0B5-4E95-4188-A4FC-A34E6A988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 names in R are case-sensitive so x is not the same as X. </a:t>
            </a:r>
          </a:p>
          <a:p>
            <a:r>
              <a:rPr lang="en-US" dirty="0"/>
              <a:t>Variable names should not begin with numbers (e.g. 1x) or symbols (e.g. %x). </a:t>
            </a:r>
          </a:p>
          <a:p>
            <a:r>
              <a:rPr lang="en-US" dirty="0"/>
              <a:t>Variable names should not contain blank spaces: use </a:t>
            </a:r>
            <a:r>
              <a:rPr lang="en-US" i="1" dirty="0" err="1"/>
              <a:t>back.pay</a:t>
            </a:r>
            <a:r>
              <a:rPr lang="en-US" i="1" dirty="0"/>
              <a:t> </a:t>
            </a:r>
            <a:r>
              <a:rPr lang="en-US" dirty="0"/>
              <a:t>(not </a:t>
            </a:r>
            <a:r>
              <a:rPr lang="en-US" i="1" dirty="0"/>
              <a:t>back pay</a:t>
            </a:r>
            <a:r>
              <a:rPr lang="en-US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864191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32821-9163-4F7E-B44B-3C048BD06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Frames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B481B-0491-41E3-BD30-C48F2FD13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 frame is a more general object than a matrix, in the sense that </a:t>
            </a:r>
            <a:r>
              <a:rPr lang="en-US" dirty="0">
                <a:solidFill>
                  <a:srgbClr val="FF0000"/>
                </a:solidFill>
              </a:rPr>
              <a:t>different columns may have different modes </a:t>
            </a:r>
            <a:r>
              <a:rPr lang="en-US" dirty="0"/>
              <a:t>(different types of data). </a:t>
            </a:r>
          </a:p>
          <a:p>
            <a:r>
              <a:rPr lang="en-US" dirty="0">
                <a:solidFill>
                  <a:srgbClr val="FF0000"/>
                </a:solidFill>
              </a:rPr>
              <a:t>All elements of any column must, however, have the same mode</a:t>
            </a:r>
            <a:r>
              <a:rPr lang="en-US" dirty="0"/>
              <a:t>, that is, all numeric, or all factor, or all character, or all logical. </a:t>
            </a:r>
          </a:p>
        </p:txBody>
      </p:sp>
    </p:spTree>
    <p:extLst>
      <p:ext uri="{BB962C8B-B14F-4D97-AF65-F5344CB8AC3E}">
        <p14:creationId xmlns:p14="http://schemas.microsoft.com/office/powerpoint/2010/main" val="3972106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02BA1-06E6-48C4-8044-E34420CA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0C9E8-E2DF-4A62-860C-D24B9AC4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that for data frames, the data in different columns could be of different types but had to have the same structure (i.e., have the same length). </a:t>
            </a:r>
          </a:p>
          <a:p>
            <a:r>
              <a:rPr lang="en-US" dirty="0"/>
              <a:t>Lists are a construct that allow you to tie together different types of data that do not share the same structure. </a:t>
            </a:r>
          </a:p>
        </p:txBody>
      </p:sp>
    </p:spTree>
    <p:extLst>
      <p:ext uri="{BB962C8B-B14F-4D97-AF65-F5344CB8AC3E}">
        <p14:creationId xmlns:p14="http://schemas.microsoft.com/office/powerpoint/2010/main" val="2210427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8E4CF-65F1-4A04-9F6B-FE8533341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7A3A8-5756-4B50-A74F-B14F18BF4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 1000 values from standard normal distribution. We treat this as our population.</a:t>
            </a:r>
          </a:p>
          <a:p>
            <a:r>
              <a:rPr lang="en-US" dirty="0"/>
              <a:t>Find the mean and </a:t>
            </a:r>
            <a:r>
              <a:rPr lang="en-US" dirty="0" err="1"/>
              <a:t>std</a:t>
            </a:r>
            <a:r>
              <a:rPr lang="en-US" dirty="0"/>
              <a:t> of the population.</a:t>
            </a:r>
          </a:p>
          <a:p>
            <a:r>
              <a:rPr lang="en-US" dirty="0"/>
              <a:t> sample 100 values from the population.</a:t>
            </a:r>
          </a:p>
          <a:p>
            <a:r>
              <a:rPr lang="en-US" dirty="0"/>
              <a:t> find the  mean and </a:t>
            </a:r>
            <a:r>
              <a:rPr lang="en-US" dirty="0" err="1"/>
              <a:t>std</a:t>
            </a:r>
            <a:r>
              <a:rPr lang="en-US" dirty="0"/>
              <a:t> of the sample</a:t>
            </a:r>
          </a:p>
          <a:p>
            <a:r>
              <a:rPr lang="en-US" dirty="0"/>
              <a:t> plot the boxplot of population and sample in a same plot. </a:t>
            </a:r>
          </a:p>
        </p:txBody>
      </p:sp>
    </p:spTree>
    <p:extLst>
      <p:ext uri="{BB962C8B-B14F-4D97-AF65-F5344CB8AC3E}">
        <p14:creationId xmlns:p14="http://schemas.microsoft.com/office/powerpoint/2010/main" val="1783088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D918E-4F14-4ED8-9956-CD331D0BF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3BB3F-6394-473C-BE6D-BFE3F5FE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 data from three normal distributions, call z1, z2, and z2</a:t>
            </a:r>
          </a:p>
          <a:p>
            <a:r>
              <a:rPr lang="en-US" dirty="0"/>
              <a:t>Plot the histogram of summation of these three variables. </a:t>
            </a:r>
          </a:p>
          <a:p>
            <a:r>
              <a:rPr lang="en-US" dirty="0"/>
              <a:t>Square the values and add them up call the new variable x</a:t>
            </a:r>
          </a:p>
          <a:p>
            <a:r>
              <a:rPr lang="en-US" dirty="0"/>
              <a:t>Plot the histogram and boxplot of x</a:t>
            </a:r>
          </a:p>
          <a:p>
            <a:r>
              <a:rPr lang="en-US" dirty="0"/>
              <a:t>Find the mean, median and </a:t>
            </a:r>
            <a:r>
              <a:rPr lang="en-US" dirty="0" err="1"/>
              <a:t>std</a:t>
            </a:r>
            <a:r>
              <a:rPr lang="en-US" dirty="0"/>
              <a:t> of x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103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624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Introduction to R</vt:lpstr>
      <vt:lpstr>Installation</vt:lpstr>
      <vt:lpstr>The R Console Window</vt:lpstr>
      <vt:lpstr>The R Console Window</vt:lpstr>
      <vt:lpstr>Getting Help in R </vt:lpstr>
      <vt:lpstr>Jupyer</vt:lpstr>
      <vt:lpstr>Jupyter</vt:lpstr>
      <vt:lpstr>Variable Names </vt:lpstr>
      <vt:lpstr>Data Frames </vt:lpstr>
      <vt:lpstr>Lists</vt:lpstr>
      <vt:lpstr>Exercise 1</vt:lpstr>
      <vt:lpstr>Exercise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</dc:title>
  <dc:creator>Mostafa Reisi Gahrooei</dc:creator>
  <cp:lastModifiedBy>Reisi Gahrooei, Mostafa</cp:lastModifiedBy>
  <cp:revision>16</cp:revision>
  <dcterms:created xsi:type="dcterms:W3CDTF">2018-01-14T19:55:11Z</dcterms:created>
  <dcterms:modified xsi:type="dcterms:W3CDTF">2018-01-20T02:02:21Z</dcterms:modified>
</cp:coreProperties>
</file>